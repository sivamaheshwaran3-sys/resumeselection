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102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EF56DB-6447-4E9A-8D0B-327B958AB26D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76D98-D61B-4655-9F07-885518B2E1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9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2F0ED-5252-4C0D-3BA2-BA6ECDF907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6E366-4DE2-8E81-1DC3-0AEE197AF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C19ECA-A45F-0986-41DE-E73470F3D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8A127-BB09-41A4-B1CB-CF09F8E9604A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DC80E-2DDD-1136-4BC6-B4406DBF7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6432E-64B5-4716-F794-CD0C848FE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428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75F44-3844-F881-3DC9-E55F3A5B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5DD6E-70DC-EC37-F363-8CA0371D4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84CC4-4338-D905-6FCE-6141610CE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9C543-C1A5-4BB5-A80B-9531F5C51CEB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6F4CB-E19E-BF21-CA04-20FBF9E0B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561CA-A7D9-921E-283C-D2D26EC9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382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F0DB8-4328-6842-4C20-194E16496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C16DD-B055-C373-DB9C-1095E3A7F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8B3A-5B20-B104-4DC9-F294FE85D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ABE-BEC8-4A12-8AF2-3E9347C9F9C5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F6EF1-C2BF-E0B8-5AD2-1E80894A9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C3E5B-79C1-F551-EB78-424972E4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975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FA2CF-D4B2-C0EA-7D8B-9997981DF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EC816-FAB0-61B5-B8A9-3CEEDE3AC6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888030-9606-40F3-F568-569861E67B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26BC2E-18CA-513E-BBD3-A4A6A4682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CA91-FD83-4EFE-93EA-63992C03614F}" type="datetime1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0C424-8EE7-DCF3-92CA-9943CA217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B02771-6578-A3F3-2DE5-957F26935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01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A56EB-15F3-DA5A-FC5F-C8A9854DF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F55B3-769C-0F68-56E4-09A31651F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9390E3-482E-14E5-E93E-3EFDFCA02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F7FD4-A0A2-100E-247B-0439DA6A8E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B19785-7F9E-F7E7-9989-FBA2A2436A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9BF4CB-4B11-6795-84C1-91B139428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C43A-13E2-48A2-BAE5-CC73887FC199}" type="datetime1">
              <a:rPr lang="en-US" smtClean="0"/>
              <a:t>11/3/2025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2FCB82-5972-D333-E21C-DF24F6BCF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12211A-324E-9069-32B0-8F509730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088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0A965-A2B0-80BB-C6BA-CCCFA272A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0A2016-FBBB-4A1F-6F9E-FE6A63DE4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2C5D3-416C-4131-8BC9-E71DA97D5A64}" type="datetime1">
              <a:rPr lang="en-US" smtClean="0"/>
              <a:t>11/3/2025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E845DF-F961-5466-32C3-C6385060C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057F6-928A-6D9F-4161-C04DEAA83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974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B366D7-6680-4FD6-C029-DC5C0BB23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71593-8386-48B7-BB85-87C0949B2086}" type="datetime1">
              <a:rPr lang="en-US" smtClean="0"/>
              <a:t>11/3/2025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179984-8567-91CB-0310-29A3752B7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2C7A0D-606C-3BF9-8DBE-908D80966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376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684C1-8596-31A1-180D-C7EC5332B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62C2-B7CC-ADA3-9D39-3541B3FE5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35A5F9-7E68-401F-C3BB-09FB74F82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F73E6-ECB8-2943-41D8-05812D84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0F398-88D3-4D2F-9F7E-785BF8AD0274}" type="datetime1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6B5AF7-95CA-05D2-1119-F667C7B6F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599C23-C916-AE53-9371-42CF3819D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99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9AC56-39A4-2278-722C-617F9F770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FAD1B2-1942-74FB-C400-0DB0C13B90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DA8F38-E9BE-47E4-7662-3CD4AECCB2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28AE0B-2CCA-EDA3-1B80-8F2E1DF84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94C1-07AC-4775-8A4F-70BB05306BF7}" type="datetime1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DB1342-9AFD-57F0-2E90-76ECCEAFA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180B8-E20A-6138-1A1C-1E980CAD4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94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050B6-05B4-E3FE-22C0-B823946C3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34B519-CE0F-EF5E-0363-067F1B0DB1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E2CA70-5E41-1433-D1D4-58B7EECA7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BF149-3A71-4B38-9BDE-7A4D7C7AB1AD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27E013-1DD3-69EC-2DB2-F95CD3491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2FAA7-8459-22BB-DD92-45D2DCDBB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19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65F096-56EB-9C2E-FB81-FEE0A0CAD9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2D9855-6F39-E67A-6BE9-0AC527E972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C113E1-9951-703E-A152-D5CEEC0EE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15CF1-83E4-4056-B983-BD617F30DAFA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63D87-637E-E53B-45EF-5E53B2925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677AB-ED08-1C04-AEC4-B8B3B85B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424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4DB59C-E06D-9064-D0E9-EE878347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3B2644-B987-EA40-64D1-C253A45B0A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C9483-BDE6-AF2E-5EF6-5FD8C63DA8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FA37CB-3111-4E43-978B-840B0C3E984E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345DA1-9E37-8BE4-5FD8-3086239736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78D0E-8A6B-A368-9312-1F3C29DDBA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527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file:///C:\Users\HP\Documents\AI%20MINIPROJECT.pdf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1908.10084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F15FA6-086D-491A-B175-0CA4656FBDCB}"/>
              </a:ext>
            </a:extLst>
          </p:cNvPr>
          <p:cNvPicPr/>
          <p:nvPr/>
        </p:nvPicPr>
        <p:blipFill>
          <a:blip r:embed="rId2" cstate="print"/>
          <a:srcRect l="21229" t="27213" r="21523" b="35253"/>
          <a:stretch>
            <a:fillRect/>
          </a:stretch>
        </p:blipFill>
        <p:spPr bwMode="auto">
          <a:xfrm>
            <a:off x="3256548" y="136525"/>
            <a:ext cx="4776536" cy="834189"/>
          </a:xfrm>
          <a:prstGeom prst="rect">
            <a:avLst/>
          </a:prstGeom>
          <a:ln>
            <a:headEnd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BEE647A-5606-A6E5-93DB-A43A8FC2D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138" y="1251284"/>
            <a:ext cx="10812378" cy="2458586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CSE (ARTIFICIAL INTELLIGENCE AND MACHINE LEARNING)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 2025 - 2026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 III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 LABORATORY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GB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 PROJECT REVIEW</a:t>
            </a:r>
            <a:r>
              <a:rPr lang="en-GB" sz="24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RESUME RELEVANCE SYSTEM</a:t>
            </a:r>
            <a:endParaRPr lang="en-US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39E0012-B3AF-E718-6BBA-5D37629E40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83393"/>
              </p:ext>
            </p:extLst>
          </p:nvPr>
        </p:nvGraphicFramePr>
        <p:xfrm>
          <a:off x="2098841" y="3845961"/>
          <a:ext cx="8392696" cy="245858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216485">
                  <a:extLst>
                    <a:ext uri="{9D8B030D-6E8A-4147-A177-3AD203B41FA5}">
                      <a16:colId xmlns:a16="http://schemas.microsoft.com/office/drawing/2014/main" val="1924387309"/>
                    </a:ext>
                  </a:extLst>
                </a:gridCol>
                <a:gridCol w="6176211">
                  <a:extLst>
                    <a:ext uri="{9D8B030D-6E8A-4147-A177-3AD203B41FA5}">
                      <a16:colId xmlns:a16="http://schemas.microsoft.com/office/drawing/2014/main" val="471423325"/>
                    </a:ext>
                  </a:extLst>
                </a:gridCol>
              </a:tblGrid>
              <a:tr h="486314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REGISTER NUMBER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170341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MAHESHWARAN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7366592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YEAR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|||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965190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DEPARTMENT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B.TECH AI &amp; DS – “C”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406844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FACULTY IN-CHARGE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/>
                        <a:t>MS . PHEBE PERSIS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199969"/>
                  </a:ext>
                </a:extLst>
              </a:tr>
            </a:tbl>
          </a:graphicData>
        </a:graphic>
      </p:graphicFrame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6B174A57-15CE-2FFD-86D9-B7E846924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B098-7844-408D-9BB3-6B083FBEE8AA}" type="datetime1">
              <a:rPr lang="en-US" smtClean="0"/>
              <a:t>11/3/2025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873981-939E-932D-DBE2-6B02CC92B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793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E759A-0732-65F8-ABFC-93E81441B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PROBLEM STATEMENT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17474-C476-1051-3F37-A2159E2BE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problem addressed in this project is the need for an automated, accurate, and efficient system that can: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	1. Evaluate resumes against a job description.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2. Quantify relevance using both keyword-based (hard) and semantic (soft) similarity.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3. Highlight missing skills and provide actionable suggestions for improvement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FF5BCC-B36E-DFE5-103F-31FA12632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253399-F526-B4B1-D444-32B3A164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14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CC068-5F54-97E8-2F1C-0538F1126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2B1AF-B7ED-6DDA-888D-9BCAF08EA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7243E-1300-82BE-9968-6837E801A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/>
          <a:lstStyle/>
          <a:p>
            <a:r>
              <a:rPr lang="en-US" dirty="0"/>
              <a:t>Recruitment is a critical process for organizations, but manually evaluating resumes against job descriptions is often time-consuming, inconsistent, and prone to bias.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Candidates may possess varying levels of skills, and recruiters need a systematic method to objectively assess relevance.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Automating this process using Artificial Intelligence (AI) can significantly reduce human effort, improve accuracy, and provide actionable insights.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593AB-ABA6-D8E8-42D9-A38FB7B4D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AE40CC-B05F-6325-A926-99504CD4A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692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34F6B-2294-8100-6428-71DD4A23A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76350-5987-57CB-5096-A77DCA200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IMPLEMENTATION AND CODE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9904C-7E5E-5862-ACA4-167CDBC50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r>
              <a:rPr lang="en-GB" dirty="0"/>
              <a:t>Link to code in Git-hub Repository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BC0E82-F7C5-E4B3-8BB9-1583AC6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75014-201C-1110-C957-46A30A1C2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CE64048-76D1-E559-97A6-1E9DA8CC9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5768683"/>
              </p:ext>
            </p:extLst>
          </p:nvPr>
        </p:nvGraphicFramePr>
        <p:xfrm>
          <a:off x="1854199" y="2205222"/>
          <a:ext cx="9777362" cy="14782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51866">
                  <a:extLst>
                    <a:ext uri="{9D8B030D-6E8A-4147-A177-3AD203B41FA5}">
                      <a16:colId xmlns:a16="http://schemas.microsoft.com/office/drawing/2014/main" val="4052004335"/>
                    </a:ext>
                  </a:extLst>
                </a:gridCol>
                <a:gridCol w="6125496">
                  <a:extLst>
                    <a:ext uri="{9D8B030D-6E8A-4147-A177-3AD203B41FA5}">
                      <a16:colId xmlns:a16="http://schemas.microsoft.com/office/drawing/2014/main" val="12519598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List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Git-hub Repository Links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36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Implementation of Code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https://github.com/sivamaheshwaran3-sys/resumeselection.git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6202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Word Document Report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hlinkClick r:id="rId2"/>
                        </a:rPr>
                        <a:t>AI MINIPROJECT.pdf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1050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PPT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AI MINIPROJECT.ppt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2417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9586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55069-71B1-83F0-E5F5-B02F8F57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58887-D4AD-6383-79D6-F528D3482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ACE5-322B-3F55-2CA9-8E1D41170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D1AF6B-7EFE-60E0-2350-AE083D01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5</a:t>
            </a:fld>
            <a:endParaRPr lang="en-US"/>
          </a:p>
        </p:txBody>
      </p:sp>
      <p:pic>
        <p:nvPicPr>
          <p:cNvPr id="8" name="vid_merged (online-video-cutter.com)">
            <a:hlinkClick r:id="" action="ppaction://media"/>
            <a:extLst>
              <a:ext uri="{FF2B5EF4-FFF2-40B4-BE49-F238E27FC236}">
                <a16:creationId xmlns:a16="http://schemas.microsoft.com/office/drawing/2014/main" id="{9B81E710-CD3F-0BE4-BB5B-4933D6000DEF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9265" y="1189703"/>
            <a:ext cx="11326761" cy="4987260"/>
          </a:xfrm>
        </p:spPr>
      </p:pic>
    </p:spTree>
    <p:extLst>
      <p:ext uri="{BB962C8B-B14F-4D97-AF65-F5344CB8AC3E}">
        <p14:creationId xmlns:p14="http://schemas.microsoft.com/office/powerpoint/2010/main" val="2805269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4867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63ECA-B59E-8742-1165-9911D2A4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B2EF6-B936-B9EB-24E4-C84A06240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FUTURE ENHANCEMENTS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409AF-1BD6-CFDC-B172-AD3D38536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>
            <a:normAutofit fontScale="70000" lnSpcReduction="20000"/>
          </a:bodyPr>
          <a:lstStyle/>
          <a:p>
            <a:pPr marL="514350" lvl="0" indent="-514350">
              <a:buAutoNum type="arabicPeriod"/>
            </a:pPr>
            <a:r>
              <a:rPr lang="en-US" dirty="0"/>
              <a:t> Multi-language Support – Evaluate resumes in different languages.</a:t>
            </a:r>
          </a:p>
          <a:p>
            <a:pPr marL="514350" lvl="0" indent="-514350">
              <a:buAutoNum type="arabicPeriod"/>
            </a:pPr>
            <a:endParaRPr lang="en-US" dirty="0"/>
          </a:p>
          <a:p>
            <a:pPr marL="514350" lvl="0" indent="-514350">
              <a:buAutoNum type="arabicPeriod"/>
            </a:pPr>
            <a:r>
              <a:rPr lang="en-US" dirty="0"/>
              <a:t> Experience &amp; Certification Scoring – Include candidate experience and certifications for scoring. </a:t>
            </a:r>
          </a:p>
          <a:p>
            <a:pPr marL="514350" lvl="0" indent="-514350">
              <a:buAutoNum type="arabicPeriod"/>
            </a:pPr>
            <a:endParaRPr lang="en-US" dirty="0"/>
          </a:p>
          <a:p>
            <a:pPr marL="514350" lvl="0" indent="-514350">
              <a:buAutoNum type="arabicPeriod"/>
            </a:pPr>
            <a:r>
              <a:rPr lang="en-US" dirty="0"/>
              <a:t> Integration with ATS – Connect directly with Applicant Tracking Systems for large scale recruitment.</a:t>
            </a:r>
          </a:p>
          <a:p>
            <a:pPr marL="514350" lvl="0" indent="-514350">
              <a:buAutoNum type="arabicPeriod"/>
            </a:pPr>
            <a:endParaRPr lang="en-US" dirty="0"/>
          </a:p>
          <a:p>
            <a:pPr marL="514350" lvl="0" indent="-514350">
              <a:buAutoNum type="arabicPeriod"/>
            </a:pPr>
            <a:r>
              <a:rPr lang="en-US" dirty="0"/>
              <a:t> Advanced Semantic Models – Use larger transformer models (e.g., BERT, </a:t>
            </a:r>
            <a:r>
              <a:rPr lang="en-US" dirty="0" err="1"/>
              <a:t>RoBERTa</a:t>
            </a:r>
            <a:r>
              <a:rPr lang="en-US" dirty="0"/>
              <a:t>) for improved accuracy.</a:t>
            </a:r>
          </a:p>
          <a:p>
            <a:pPr marL="514350" lvl="0" indent="-514350">
              <a:buAutoNum type="arabicPeriod"/>
            </a:pPr>
            <a:endParaRPr lang="en-US" dirty="0"/>
          </a:p>
          <a:p>
            <a:pPr marL="514350" lvl="0" indent="-514350">
              <a:buAutoNum type="arabicPeriod"/>
            </a:pPr>
            <a:r>
              <a:rPr lang="en-US" dirty="0"/>
              <a:t> Skill Weighting – Allow recruiters to assign different weights to critical vs optional skills. </a:t>
            </a:r>
          </a:p>
          <a:p>
            <a:pPr marL="514350" lvl="0" indent="-514350">
              <a:buAutoNum type="arabicPeriod"/>
            </a:pPr>
            <a:endParaRPr lang="en-US" dirty="0"/>
          </a:p>
          <a:p>
            <a:pPr marL="514350" lvl="0" indent="-514350">
              <a:buAutoNum type="arabicPeriod"/>
            </a:pPr>
            <a:r>
              <a:rPr lang="en-US" dirty="0"/>
              <a:t>Dashboard Analytics – Add interactive analytics for recruiters to track trends across multiple hires.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73938-5370-329C-27AB-D82ECB9D7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83B3C-8735-B8FC-8D50-B919B3471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363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EA9EE-5679-A557-E7BF-0A904D097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6077-2697-7116-5A2C-99B8054B7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REFERENCES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B1971-AF7F-80EE-26ED-EA8A7E8C7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lang="en-IN" dirty="0"/>
              <a:t>1. </a:t>
            </a:r>
            <a:r>
              <a:rPr lang="en-IN" dirty="0" err="1"/>
              <a:t>Jurafsky</a:t>
            </a:r>
            <a:r>
              <a:rPr lang="en-IN" dirty="0"/>
              <a:t>, D., &amp; Martin, J. H. (2021). Speech and Language Processing (3rd ed., draft). [Online Book Draft] o https://web.stanford.edu/~jurafsky/slp3/ </a:t>
            </a:r>
          </a:p>
          <a:p>
            <a:pPr lvl="0"/>
            <a:endParaRPr lang="en-IN" dirty="0"/>
          </a:p>
          <a:p>
            <a:pPr marL="0" lvl="0" indent="0">
              <a:buNone/>
            </a:pPr>
            <a:r>
              <a:rPr lang="en-IN" dirty="0"/>
              <a:t>2. Bird, S., Klein, E., &amp; Loper, E. (2009). Natural Language Processing with Python. O’Reilly Media. </a:t>
            </a:r>
          </a:p>
          <a:p>
            <a:pPr lvl="0"/>
            <a:endParaRPr lang="en-IN" dirty="0"/>
          </a:p>
          <a:p>
            <a:pPr marL="0" lvl="0" indent="0">
              <a:buNone/>
            </a:pPr>
            <a:r>
              <a:rPr lang="en-IN" dirty="0"/>
              <a:t>3. Reimers, N., &amp; </a:t>
            </a:r>
            <a:r>
              <a:rPr lang="en-IN" dirty="0" err="1"/>
              <a:t>Gurevych</a:t>
            </a:r>
            <a:r>
              <a:rPr lang="en-IN" dirty="0"/>
              <a:t>, I. (2019). Sentence-BERT: Sentence Embeddings using Siamese BERT-Networks. arXiv:1908.10084. o </a:t>
            </a:r>
            <a:r>
              <a:rPr lang="en-IN" dirty="0">
                <a:hlinkClick r:id="rId2"/>
              </a:rPr>
              <a:t>https://arxiv.org/abs/1908.10084</a:t>
            </a:r>
            <a:r>
              <a:rPr lang="en-IN" dirty="0"/>
              <a:t> </a:t>
            </a:r>
          </a:p>
          <a:p>
            <a:pPr marL="0" lvl="0" indent="0">
              <a:buNone/>
            </a:pPr>
            <a:r>
              <a:rPr lang="en-IN" dirty="0"/>
              <a:t> </a:t>
            </a:r>
          </a:p>
          <a:p>
            <a:pPr marL="0" lvl="0" indent="0">
              <a:buNone/>
            </a:pPr>
            <a:r>
              <a:rPr lang="en-IN" dirty="0"/>
              <a:t>4. </a:t>
            </a:r>
            <a:r>
              <a:rPr lang="en-IN" dirty="0" err="1"/>
              <a:t>Géron</a:t>
            </a:r>
            <a:r>
              <a:rPr lang="en-IN" dirty="0"/>
              <a:t>, A. (2019). Hands-On Machine Learning with Scikit-Learn, </a:t>
            </a:r>
            <a:r>
              <a:rPr lang="en-IN" dirty="0" err="1"/>
              <a:t>Keras</a:t>
            </a:r>
            <a:r>
              <a:rPr lang="en-IN" dirty="0"/>
              <a:t>, and TensorFlow (2nd ed.). O’Reilly Media. </a:t>
            </a:r>
          </a:p>
          <a:p>
            <a:pPr lvl="0"/>
            <a:endParaRPr lang="en-IN" dirty="0"/>
          </a:p>
          <a:p>
            <a:pPr marL="0" lvl="0" indent="0">
              <a:buNone/>
            </a:pPr>
            <a:r>
              <a:rPr lang="en-IN" dirty="0"/>
              <a:t>5. McKinney, W. (2017). Python for Data Analysis: Data Wrangling with Pandas, NumPy, and </a:t>
            </a:r>
            <a:r>
              <a:rPr lang="en-IN" dirty="0" err="1"/>
              <a:t>IPython</a:t>
            </a:r>
            <a:r>
              <a:rPr lang="en-IN" dirty="0"/>
              <a:t> (2nd ed.). O’Reilly Media. </a:t>
            </a:r>
          </a:p>
          <a:p>
            <a:pPr lvl="0"/>
            <a:endParaRPr lang="en-IN" dirty="0"/>
          </a:p>
          <a:p>
            <a:pPr marL="0" lvl="0" indent="0">
              <a:buNone/>
            </a:pPr>
            <a:r>
              <a:rPr lang="en-IN" dirty="0"/>
              <a:t>6. Brownlee, J. (2020). Master Machine Learning Algorithms. Machine Learning Mastery. o https://machinelearningmastery.com/master-machine-learning-algorithms/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721BC-42E2-4822-3086-5AF81F1A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11/3/2025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D8BC28-15FA-0C88-32FB-88458DEBB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607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539</Words>
  <Application>Microsoft Office PowerPoint</Application>
  <PresentationFormat>Widescreen</PresentationFormat>
  <Paragraphs>73</Paragraphs>
  <Slides>7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Office Theme</vt:lpstr>
      <vt:lpstr>DEPARTMENT OF CSE (ARTIFICIAL INTELLIGENCE AND MACHINE LEARNING) ACADEMIC YEAR 2025 - 2026 SEMESTER III ARTIFICIAL INTELLIGENCE LABORATORY  MINI PROJECT REVIEW   RESUME RELEVANCE SYSTEM</vt:lpstr>
      <vt:lpstr>PROBLEM STATEMENT</vt:lpstr>
      <vt:lpstr>THEORETICAL BACKGROUND</vt:lpstr>
      <vt:lpstr>IMPLEMENTATION AND CODE</vt:lpstr>
      <vt:lpstr>OUTPUT AND RESULTS</vt:lpstr>
      <vt:lpstr>FUTURE ENHANCEMENTS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SANKAR GANESH K</dc:creator>
  <cp:lastModifiedBy>maheshwaran s</cp:lastModifiedBy>
  <cp:revision>9</cp:revision>
  <dcterms:created xsi:type="dcterms:W3CDTF">2025-10-18T08:57:34Z</dcterms:created>
  <dcterms:modified xsi:type="dcterms:W3CDTF">2025-11-03T15:29:43Z</dcterms:modified>
</cp:coreProperties>
</file>